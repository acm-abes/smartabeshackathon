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60" r:id="rId4"/>
    <p:sldId id="261" r:id="rId5"/>
    <p:sldId id="266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DC5AE7C-5B83-4DF3-A902-6B1115ACECBF}">
          <p14:sldIdLst>
            <p14:sldId id="256"/>
            <p14:sldId id="257"/>
            <p14:sldId id="260"/>
            <p14:sldId id="261"/>
            <p14:sldId id="266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0630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B7E40-7846-48E9-A523-FC349D95182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C9001-A18C-4E4B-A457-A4C8F5F5C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53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 Item: Verify that the Team ID and Problem Statement (PS) Code on this slide match your official registration exactly.</a:t>
            </a:r>
          </a:p>
          <a:p>
            <a:r>
              <a:rPr lang="en-US" dirty="0"/>
              <a:t>Judge's Check: Evaluators use these codes to open your score sheet. Mismatches lead to scoring errors.</a:t>
            </a:r>
          </a:p>
          <a:p>
            <a:r>
              <a:rPr lang="en-US" dirty="0"/>
              <a:t>Constraint: Do not add team photos or long bios here. Keep it strictly identifying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C9001-A18C-4E4B-A457-A4C8F5F5CBA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48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 Item: Define the Specific Technical Bottleneck (e.g., latency, security vulnerability, storage cost) you are solving.</a:t>
            </a:r>
          </a:p>
          <a:p>
            <a:r>
              <a:rPr lang="en-US" dirty="0"/>
              <a:t>Constraint: Do not describe the generic problem (e.g., "Pollution is bad"). Assume the judge knows the domain.</a:t>
            </a:r>
          </a:p>
          <a:p>
            <a:r>
              <a:rPr lang="en-US" dirty="0"/>
              <a:t>Judge's Check: Does the team understand why existing solutions fail at an engineering level?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C9001-A18C-4E4B-A457-A4C8F5F5CB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91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 Goal: Score well on Novelty.</a:t>
            </a:r>
          </a:p>
          <a:p>
            <a:r>
              <a:rPr lang="en-US" dirty="0"/>
              <a:t>Action Item: Explicitly state your "Un-obvious" Engineering Insight. What logic or approach makes this unique?</a:t>
            </a:r>
          </a:p>
          <a:p>
            <a:r>
              <a:rPr lang="en-US" dirty="0"/>
              <a:t>Differentiation: If using standard APIs/Libraries, you must explain the custom logic built on top.</a:t>
            </a:r>
          </a:p>
          <a:p>
            <a:r>
              <a:rPr lang="en-US" dirty="0"/>
              <a:t>Judge's Check: Is this a wrapper/clone (Low Score) or a custom implementation (High Score)?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C9001-A18C-4E4B-A457-A4C8F5F5CB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63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 Goal: Score well on Optimization. (CRITICAL SLIDE)</a:t>
            </a:r>
          </a:p>
          <a:p>
            <a:r>
              <a:rPr lang="en-US" dirty="0"/>
              <a:t>Action Item: List the specific Algorithms &amp; Data Structures (DSA) used.</a:t>
            </a:r>
          </a:p>
          <a:p>
            <a:r>
              <a:rPr lang="en-US" dirty="0"/>
              <a:t>Action Item: Provide Complexity analysis for your core function.</a:t>
            </a:r>
          </a:p>
          <a:p>
            <a:r>
              <a:rPr lang="en-US" dirty="0"/>
              <a:t>Judge's Check: Does the solution demonstrate deep algorithmic reasoning or just brute force?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C9001-A18C-4E4B-A457-A4C8F5F5CB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56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A29F-44E1-FE0D-AADA-365B7FD53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8C948-E4E4-691C-FA2E-DAFA90E69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A6B07-A4B1-1332-34AB-6B62D72DD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 Goal: Score well on Methodology (0-10) and Articulation (0-10).</a:t>
            </a:r>
          </a:p>
          <a:p>
            <a:r>
              <a:rPr lang="en-US" dirty="0"/>
              <a:t>Visual Requirement: This slide must include a Block Diagram showing Input &gt; Processing &gt; Output.</a:t>
            </a:r>
          </a:p>
          <a:p>
            <a:r>
              <a:rPr lang="en-US" dirty="0"/>
              <a:t>Judge's Check: Is the tech stack choice defensible?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56ED8-58D6-B433-03B4-B8150A32D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C9001-A18C-4E4B-A457-A4C8F5F5CBA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34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 Goal: Score well on Articulation (0-10).</a:t>
            </a:r>
          </a:p>
          <a:p>
            <a:r>
              <a:rPr lang="en-US" dirty="0"/>
              <a:t>Action Item (Reasoning): Do not just list tools. </a:t>
            </a:r>
          </a:p>
          <a:p>
            <a:r>
              <a:rPr lang="en-US" dirty="0"/>
              <a:t>Justify why you chose them over alternatives (e.g., "Chosen for concurrency," not "Chosen because it's popular").</a:t>
            </a:r>
          </a:p>
          <a:p>
            <a:r>
              <a:rPr lang="en-US" dirty="0"/>
              <a:t>Judge's Check: Is the architecture robust?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C9001-A18C-4E4B-A457-A4C8F5F5CBA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77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 Goal: Score well on Feasibility.</a:t>
            </a:r>
          </a:p>
          <a:p>
            <a:r>
              <a:rPr lang="en-US" dirty="0"/>
              <a:t>Action Item: State the duration of a certain % completion of the prototype (Be honest about mocked data).</a:t>
            </a:r>
          </a:p>
          <a:p>
            <a:r>
              <a:rPr lang="en-US" dirty="0"/>
              <a:t>Action Item: List 1-2 specific risks (e.g., API limits, hardware latency) and your plan to mitigate them.</a:t>
            </a:r>
          </a:p>
          <a:p>
            <a:r>
              <a:rPr lang="en-US" dirty="0"/>
              <a:t>Judge's Check: Is this buildable in the hackathon timeframe?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C9001-A18C-4E4B-A457-A4C8F5F5CBA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379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 Item: Map every member to a Specific Technical Role (e.g., Backend Lead, AI Engineer).</a:t>
            </a:r>
          </a:p>
          <a:p>
            <a:r>
              <a:rPr lang="en-US" dirty="0"/>
              <a:t>Action Item: Ensure the Team Leader's Email is valid. This is the only address used for Shortlist/Rejection notifications.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C9001-A18C-4E4B-A457-A4C8F5F5CB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5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DDCD-07E6-441B-8381-97CA3AD9344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ECC0-5259-46AB-9531-82E86755DBE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076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DDCD-07E6-441B-8381-97CA3AD9344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ECC0-5259-46AB-9531-82E86755D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7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DDCD-07E6-441B-8381-97CA3AD9344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ECC0-5259-46AB-9531-82E86755D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454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DDCD-07E6-441B-8381-97CA3AD9344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ECC0-5259-46AB-9531-82E86755D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250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DDCD-07E6-441B-8381-97CA3AD9344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ECC0-5259-46AB-9531-82E86755D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23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DDCD-07E6-441B-8381-97CA3AD9344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ECC0-5259-46AB-9531-82E86755D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66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DDCD-07E6-441B-8381-97CA3AD9344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ECC0-5259-46AB-9531-82E86755D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26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DDCD-07E6-441B-8381-97CA3AD9344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ECC0-5259-46AB-9531-82E86755D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34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DDCD-07E6-441B-8381-97CA3AD9344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ECC0-5259-46AB-9531-82E86755D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123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DDCD-07E6-441B-8381-97CA3AD9344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ECC0-5259-46AB-9531-82E86755D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7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DDCD-07E6-441B-8381-97CA3AD9344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ECC0-5259-46AB-9531-82E86755D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752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DDCD-07E6-441B-8381-97CA3AD9344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ECC0-5259-46AB-9531-82E86755DBE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7569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DDCD-07E6-441B-8381-97CA3AD9344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ECC0-5259-46AB-9531-82E86755D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147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DDCD-07E6-441B-8381-97CA3AD9344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ECC0-5259-46AB-9531-82E86755DBE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40110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DDCD-07E6-441B-8381-97CA3AD9344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ECC0-5259-46AB-9531-82E86755D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5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DDCD-07E6-441B-8381-97CA3AD9344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ECC0-5259-46AB-9531-82E86755D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59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DDCD-07E6-441B-8381-97CA3AD9344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3ECC0-5259-46AB-9531-82E86755D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9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0E2DDCD-07E6-441B-8381-97CA3AD9344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0F3ECC0-5259-46AB-9531-82E86755D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936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E134C76-7FB4-4BB7-9322-DD8A4B179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Snip Single Corner Rectangle 17">
            <a:extLst>
              <a:ext uri="{FF2B5EF4-FFF2-40B4-BE49-F238E27FC236}">
                <a16:creationId xmlns:a16="http://schemas.microsoft.com/office/drawing/2014/main" id="{C0C57804-4F33-4D85-AA3E-DA0F214BB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184DD-C456-9E7D-E3D7-9A1C394E9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08" y="35955"/>
            <a:ext cx="6521260" cy="820534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alifornian FB" panose="0207040306080B030204" pitchFamily="18" charset="0"/>
              </a:rPr>
              <a:t>SMART ABES HACKATHON 2.0</a:t>
            </a:r>
            <a:endParaRPr lang="en-US" sz="2800" dirty="0">
              <a:solidFill>
                <a:schemeClr val="tx2"/>
              </a:solidFill>
              <a:latin typeface="Californian FB" panose="0207040306080B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8D121-64A2-1A8B-A708-3D1EE3B1B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660" y="3429000"/>
            <a:ext cx="3869500" cy="1143002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TEAM ID: []</a:t>
            </a: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TRACK: [ AI / WEB3 / DEFENSE ]</a:t>
            </a: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PS ID: []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41CC20-2EDB-3EBB-6511-344CFF76F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459" y="35954"/>
            <a:ext cx="1017366" cy="10314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BF9678-EDCE-CD4B-A1F2-2F554951E0CB}"/>
              </a:ext>
            </a:extLst>
          </p:cNvPr>
          <p:cNvSpPr txBox="1"/>
          <p:nvPr/>
        </p:nvSpPr>
        <p:spPr>
          <a:xfrm>
            <a:off x="3975294" y="1850986"/>
            <a:ext cx="42382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124019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B90296-CFE0-401D-9CA3-32966EC4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C9B4EE-7611-4ED9-B356-7BDD377C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4F266A-F2F7-47CD-8BBC-E3777E982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D69C80-8919-4A32-B897-F2A21F940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427B072-CC5B-481B-9719-8CD4C5444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E134C76-7FB4-4BB7-9322-DD8A4B179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Snip Single Corner Rectangle 17">
            <a:extLst>
              <a:ext uri="{FF2B5EF4-FFF2-40B4-BE49-F238E27FC236}">
                <a16:creationId xmlns:a16="http://schemas.microsoft.com/office/drawing/2014/main" id="{C0C57804-4F33-4D85-AA3E-DA0F214BB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84E242-6856-7C90-C44B-C3FD99D2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88" y="381001"/>
            <a:ext cx="9678988" cy="85953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000" dirty="0">
                <a:solidFill>
                  <a:schemeClr val="tx2"/>
                </a:solidFill>
              </a:rPr>
              <a:t>THE PROBLEM GAP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E2BDE0-E648-F1C1-895C-D04C997FD8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4634" y="0"/>
            <a:ext cx="1017366" cy="1031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F8E242-7728-69CB-7360-EFBD28D2A6CA}"/>
              </a:ext>
            </a:extLst>
          </p:cNvPr>
          <p:cNvSpPr txBox="1"/>
          <p:nvPr/>
        </p:nvSpPr>
        <p:spPr>
          <a:xfrm>
            <a:off x="356566" y="2740152"/>
            <a:ext cx="643317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 Limitation: What is failing in existing solutions ?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Technical Bottleneck: Is it latency? Cost? Accuracy?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Insight: Why is this a hard engineering problem?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8431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39ADC3-9A65-573E-6565-4B8E29DFC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F2C159-B362-F42D-844E-3522EA14A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152844-D9DC-0341-1D51-3905A153E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DDEE775-BEA2-F592-370B-1D7FEB8F7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8FD6A27-2D36-D163-BB58-1ACD02734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3150C8C-C2E9-CBFC-F739-5CAF3FDE7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3F5C651-1108-7C65-5E0F-B979A3003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Snip Single Corner Rectangle 17">
            <a:extLst>
              <a:ext uri="{FF2B5EF4-FFF2-40B4-BE49-F238E27FC236}">
                <a16:creationId xmlns:a16="http://schemas.microsoft.com/office/drawing/2014/main" id="{FAAE9B76-4322-C48C-FEB1-9A2D18C0E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D4782E-A2E4-9514-067E-D16A66C26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88" y="381001"/>
            <a:ext cx="9678988" cy="8595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900" dirty="0">
                <a:solidFill>
                  <a:schemeClr val="tx2"/>
                </a:solidFill>
              </a:rPr>
              <a:t>NOVELTY &amp; INNOVATION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BFF5B1-ABE0-06F3-8C3D-1A1747D62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4634" y="0"/>
            <a:ext cx="1017366" cy="1031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DEEC0A-009C-B4CA-A0C3-C9AD99E72860}"/>
              </a:ext>
            </a:extLst>
          </p:cNvPr>
          <p:cNvSpPr txBox="1"/>
          <p:nvPr/>
        </p:nvSpPr>
        <p:spPr>
          <a:xfrm>
            <a:off x="276113" y="2508904"/>
            <a:ext cx="71232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'Un-Obvious' Engineering Improvement: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How is this different from a generic wrapper?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What is your unique engineering insight?</a:t>
            </a:r>
          </a:p>
        </p:txBody>
      </p:sp>
    </p:spTree>
    <p:extLst>
      <p:ext uri="{BB962C8B-B14F-4D97-AF65-F5344CB8AC3E}">
        <p14:creationId xmlns:p14="http://schemas.microsoft.com/office/powerpoint/2010/main" val="2715485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E9EDAD-3894-B3F8-924A-300E12AA3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573C2A-A29A-3B7D-DB56-0993159CA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78E2C3-E902-B93D-0D49-56B7D0F3F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5B899D-07D7-AA54-B26A-50D538199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4A338D7-7D17-8E5D-5AAE-6446658F4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0CCE682-EDAC-AA32-B956-A42C40AA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1D3ECF5-3B54-CD27-D2A9-AA785F8A9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Snip Single Corner Rectangle 17">
            <a:extLst>
              <a:ext uri="{FF2B5EF4-FFF2-40B4-BE49-F238E27FC236}">
                <a16:creationId xmlns:a16="http://schemas.microsoft.com/office/drawing/2014/main" id="{8DAFAC4E-B8D2-F525-6863-639AD71D3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57221B-52DA-ACF4-2F57-8628C42B9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88" y="381001"/>
            <a:ext cx="9678988" cy="8595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900" dirty="0">
                <a:solidFill>
                  <a:schemeClr val="tx2"/>
                </a:solidFill>
              </a:rPr>
              <a:t>OPTIMIZATION &amp; DEPTH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6C90D9-D11E-3C3B-858F-580FD528B2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4634" y="0"/>
            <a:ext cx="1017366" cy="1031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B0E893-BC36-9AFB-F6D4-C332DC2E6681}"/>
              </a:ext>
            </a:extLst>
          </p:cNvPr>
          <p:cNvSpPr txBox="1"/>
          <p:nvPr/>
        </p:nvSpPr>
        <p:spPr>
          <a:xfrm>
            <a:off x="329134" y="2218944"/>
            <a:ext cx="724209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Core Algorithms (DSA)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[ List Specific Algorithms ]</a:t>
            </a:r>
          </a:p>
          <a:p>
            <a:endParaRPr lang="en-US" sz="2200" dirty="0"/>
          </a:p>
          <a:p>
            <a:r>
              <a:rPr lang="en-US" sz="2200" dirty="0"/>
              <a:t>Complexity Analysis: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How did you optimize for scale?</a:t>
            </a:r>
          </a:p>
        </p:txBody>
      </p:sp>
    </p:spTree>
    <p:extLst>
      <p:ext uri="{BB962C8B-B14F-4D97-AF65-F5344CB8AC3E}">
        <p14:creationId xmlns:p14="http://schemas.microsoft.com/office/powerpoint/2010/main" val="2643205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1E8B7-8174-A5AA-3B1A-7C3F7DE20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48CF7F1-4EFC-F967-4434-821429A84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973B4C8-547C-0BE2-DB84-936267730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0CFEE0D-27FF-AC05-DAA8-E2C6106AD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1B6E0B6-AEEE-39C9-55C8-9E29AE6AC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8FF2508-DD74-5722-78F1-E09DC0D48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4DFFC19-57E3-6396-4204-2F9BACEE0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Snip Single Corner Rectangle 17">
            <a:extLst>
              <a:ext uri="{FF2B5EF4-FFF2-40B4-BE49-F238E27FC236}">
                <a16:creationId xmlns:a16="http://schemas.microsoft.com/office/drawing/2014/main" id="{735D759F-2122-58C2-6BA0-1B81472B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DFF352-D36B-85A7-296C-7A3F83CFE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88" y="381001"/>
            <a:ext cx="9678988" cy="8595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900" dirty="0">
                <a:solidFill>
                  <a:schemeClr val="tx2"/>
                </a:solidFill>
              </a:rPr>
              <a:t>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70FFC9-BDDE-9688-84B8-1EE687ED32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4634" y="0"/>
            <a:ext cx="1017366" cy="10314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D10586-EA51-9282-0431-DB60DB9A907F}"/>
              </a:ext>
            </a:extLst>
          </p:cNvPr>
          <p:cNvSpPr txBox="1"/>
          <p:nvPr/>
        </p:nvSpPr>
        <p:spPr>
          <a:xfrm>
            <a:off x="153988" y="1913467"/>
            <a:ext cx="6174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 INSERT BLOCK DIAGRAM HERE 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8095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6808EF-9D39-01F4-A865-CC64910A0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9BAE77-3BBF-39AA-567B-DA195C570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93128-F75D-DAE4-0F60-D96A1818D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A6C36A-E28A-E6DA-0898-F00676687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612C527-5A26-7D4E-E6F4-6D492ED2E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200B4-1A6C-8F4A-D83C-372ED9C95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F6FDCF8-68F2-C029-94A9-E2E58CE0F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Snip Single Corner Rectangle 17">
            <a:extLst>
              <a:ext uri="{FF2B5EF4-FFF2-40B4-BE49-F238E27FC236}">
                <a16:creationId xmlns:a16="http://schemas.microsoft.com/office/drawing/2014/main" id="{38E4EDF7-85F2-AC8E-24A7-150461CF0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DAB68-06B8-72AD-1DF9-8563720BD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88" y="381001"/>
            <a:ext cx="9678988" cy="8595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900" dirty="0">
                <a:solidFill>
                  <a:schemeClr val="tx2"/>
                </a:solidFill>
              </a:rPr>
              <a:t>Articulation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506AC2-2ADB-4024-F68E-A6C2901E95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4634" y="0"/>
            <a:ext cx="1017366" cy="10314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D99614-BD91-F06B-AB44-B477E16ECE2B}"/>
              </a:ext>
            </a:extLst>
          </p:cNvPr>
          <p:cNvSpPr txBox="1"/>
          <p:nvPr/>
        </p:nvSpPr>
        <p:spPr>
          <a:xfrm>
            <a:off x="153988" y="2781300"/>
            <a:ext cx="61748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Explain the Data Flow: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 -&gt; Logic -&gt;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Why is this architecture robust?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828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292A50-8E99-888D-9028-B56EB78A2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3236E8-ABE1-6328-5857-1775E649F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9C5B1D9-C512-143F-3DA8-AD9DD4CC0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D8F1E3-0B9D-F8F1-1A24-00D8FC723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9EB9A1-C6EE-3E27-5795-03423A8A5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FDBA94A-E96D-EDB4-3A5B-DEC97A3EE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42CD296-5D85-F4E5-A5E2-8091E4F1E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Snip Single Corner Rectangle 17">
            <a:extLst>
              <a:ext uri="{FF2B5EF4-FFF2-40B4-BE49-F238E27FC236}">
                <a16:creationId xmlns:a16="http://schemas.microsoft.com/office/drawing/2014/main" id="{D4B6E37E-3F58-5CF0-79D7-8F3558691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04949D-256F-2E50-A873-06D0864F0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88" y="381001"/>
            <a:ext cx="9678988" cy="8595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900" dirty="0">
                <a:solidFill>
                  <a:schemeClr val="tx2"/>
                </a:solidFill>
              </a:rPr>
              <a:t>FEASIBILITY &amp; ROADMAP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DDF8F4-5EAB-F296-F695-4FF6F2ED47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4634" y="0"/>
            <a:ext cx="1017366" cy="1031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3CC368-D991-4385-B5CA-DE809C409CAC}"/>
              </a:ext>
            </a:extLst>
          </p:cNvPr>
          <p:cNvSpPr txBox="1"/>
          <p:nvPr/>
        </p:nvSpPr>
        <p:spPr>
          <a:xfrm>
            <a:off x="356566" y="2740152"/>
            <a:ext cx="431881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Current Status (What works NOW?):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[ % of implementation ]</a:t>
            </a:r>
          </a:p>
          <a:p>
            <a:endParaRPr lang="en-US" dirty="0"/>
          </a:p>
          <a:p>
            <a:r>
              <a:rPr lang="en-US" dirty="0"/>
              <a:t>Future Roadmap: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[ Next Steps ]</a:t>
            </a:r>
          </a:p>
          <a:p>
            <a:endParaRPr lang="en-US" dirty="0"/>
          </a:p>
          <a:p>
            <a:r>
              <a:rPr lang="en-US" dirty="0"/>
              <a:t>Risk Mitigation: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will you handle failure points?</a:t>
            </a:r>
          </a:p>
        </p:txBody>
      </p:sp>
    </p:spTree>
    <p:extLst>
      <p:ext uri="{BB962C8B-B14F-4D97-AF65-F5344CB8AC3E}">
        <p14:creationId xmlns:p14="http://schemas.microsoft.com/office/powerpoint/2010/main" val="2574156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D1C5FE-9EC5-7A86-A4F8-3AB10CA66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AEE1D6-A478-2C16-5514-D84CA5CD3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C85050-09A7-9E65-2C68-5DCE7ABC8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F892C59-69F2-68B1-BB2F-5CB7BAAB5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FBC06A-FFAA-7CBB-E80B-BE03F01A1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FAC9906-D0A5-8889-5AC5-B6E26D9F1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7A791C4-DF26-AD82-4C47-BD030E1D5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Snip Single Corner Rectangle 17">
            <a:extLst>
              <a:ext uri="{FF2B5EF4-FFF2-40B4-BE49-F238E27FC236}">
                <a16:creationId xmlns:a16="http://schemas.microsoft.com/office/drawing/2014/main" id="{0F512D1F-BAC5-241B-2F29-768E4DED5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B8A1E2-6C19-C952-EF7D-C8E0E0C47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6050" y="179832"/>
            <a:ext cx="3256724" cy="85953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/>
              <a:t>THE TEAM</a:t>
            </a:r>
            <a:endParaRPr lang="en-US" sz="49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79A9E7-F306-5509-914B-0408D0B9B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4634" y="0"/>
            <a:ext cx="1017366" cy="1031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8AFED1-E37C-95A3-464C-EAD6476236C8}"/>
              </a:ext>
            </a:extLst>
          </p:cNvPr>
          <p:cNvSpPr txBox="1"/>
          <p:nvPr/>
        </p:nvSpPr>
        <p:spPr>
          <a:xfrm>
            <a:off x="395818" y="1951672"/>
            <a:ext cx="83275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Lead: [ Name ] - [ Role ]</a:t>
            </a:r>
          </a:p>
          <a:p>
            <a:r>
              <a:rPr lang="en-US" dirty="0"/>
              <a:t>Member 2: [ Name ] - [ Role ] - [ Email ]</a:t>
            </a:r>
          </a:p>
          <a:p>
            <a:r>
              <a:rPr lang="en-US" dirty="0"/>
              <a:t>Member 3: [ Name ] - [ Role ] - [ Email ]</a:t>
            </a:r>
          </a:p>
          <a:p>
            <a:r>
              <a:rPr lang="en-US" dirty="0"/>
              <a:t>Member 4: [ Name ] - [ Role ] - [ Email 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9213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4def53c-905d-442a-ba22-72ae0f5bcf4f}" enabled="1" method="Standard" siteId="{6c637512-c417-4e78-9d62-b61258e4b61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678</Words>
  <Application>Microsoft Office PowerPoint</Application>
  <PresentationFormat>Widescreen</PresentationFormat>
  <Paragraphs>76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Californian FB</vt:lpstr>
      <vt:lpstr>Century Gothic</vt:lpstr>
      <vt:lpstr>Times New Roman</vt:lpstr>
      <vt:lpstr>Wingdings 3</vt:lpstr>
      <vt:lpstr>Slice</vt:lpstr>
      <vt:lpstr>SMART ABES HACKATHON 2.0</vt:lpstr>
      <vt:lpstr>THE PROBLEM GAP</vt:lpstr>
      <vt:lpstr>NOVELTY &amp; INNOVATION</vt:lpstr>
      <vt:lpstr>OPTIMIZATION &amp; DEPTH</vt:lpstr>
      <vt:lpstr>Methodology</vt:lpstr>
      <vt:lpstr>Articulation</vt:lpstr>
      <vt:lpstr>FEASIBILITY &amp; ROADMAP</vt:lpstr>
      <vt:lpstr>THE TEAM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Aashutosh Jha</dc:creator>
  <cp:lastModifiedBy>Aashutosh Jha</cp:lastModifiedBy>
  <cp:revision>28</cp:revision>
  <dcterms:created xsi:type="dcterms:W3CDTF">2026-02-10T06:06:29Z</dcterms:created>
  <dcterms:modified xsi:type="dcterms:W3CDTF">2026-02-10T07:59:31Z</dcterms:modified>
</cp:coreProperties>
</file>